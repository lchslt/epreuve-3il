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88727"/>
            <a:ext cx="8083296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75"/>
              </a:lnSpc>
              <a:buNone/>
            </a:pPr>
            <a:r>
              <a:rPr lang="en-US" sz="8250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🎓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609600" y="2050852"/>
            <a:ext cx="7924800" cy="2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280"/>
              </a:lnSpc>
              <a:buNone/>
            </a:pPr>
            <a:r>
              <a:rPr lang="en-US" sz="552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EC04 Organisation du support</a:t>
            </a:r>
            <a:endParaRPr lang="en-US" sz="5520" dirty="0"/>
          </a:p>
        </p:txBody>
      </p:sp>
      <p:sp>
        <p:nvSpPr>
          <p:cNvPr id="4" name="Text 2"/>
          <p:cNvSpPr/>
          <p:nvPr/>
        </p:nvSpPr>
        <p:spPr>
          <a:xfrm>
            <a:off x="609600" y="4306193"/>
            <a:ext cx="79248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enrichie : incidents, demandes, priorisation ITIL et attentes d’évaluation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219200"/>
            <a:ext cx="3848100" cy="18478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219200"/>
            <a:ext cx="3848100" cy="18478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95650"/>
            <a:ext cx="3848100" cy="16192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3295650"/>
            <a:ext cx="3848100" cy="16192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09600" y="228600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4F4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 qu’évalue l’EC04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885825" y="1495425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Compétence centrale</a:t>
            </a:r>
            <a:endParaRPr lang="en-US" sz="1500" dirty="0"/>
          </a:p>
        </p:txBody>
      </p:sp>
      <p:sp>
        <p:nvSpPr>
          <p:cNvPr id="8" name="Text 2"/>
          <p:cNvSpPr/>
          <p:nvPr/>
        </p:nvSpPr>
        <p:spPr>
          <a:xfrm>
            <a:off x="885825" y="1876425"/>
            <a:ext cx="3295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Organiser et piloter la gestion des incidents et du support avec des processus de création, attribution, suivi, priorisation et élévation des tickets.</a:t>
            </a:r>
            <a:endParaRPr lang="en-US" sz="1200" dirty="0"/>
          </a:p>
        </p:txBody>
      </p:sp>
      <p:sp>
        <p:nvSpPr>
          <p:cNvPr id="9" name="Text 3"/>
          <p:cNvSpPr/>
          <p:nvPr/>
        </p:nvSpPr>
        <p:spPr>
          <a:xfrm>
            <a:off x="4962525" y="1495425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Épreuve attendue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4962525" y="1876425"/>
            <a:ext cx="3295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Étude de cas ou mise en situation où il faut proposer une organisation crédible du support, son workflow et ses règles de fonctionnement.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885825" y="3571875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 qui compte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885825" y="3952875"/>
            <a:ext cx="3295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Distinguer incidents et demandes, définir des niveaux N1/N2/N3, une matrice de priorité, des SLA et des règles d’escalade.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962525" y="3571875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Erreur à éviter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4962525" y="3952875"/>
            <a:ext cx="3295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Décrire uniquement l’outil sans expliquer l’organisation, les responsabilités, la priorisation et le pilotage du service.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57713"/>
            <a:ext cx="7924800" cy="819150"/>
          </a:xfrm>
          <a:prstGeom prst="roundRect">
            <a:avLst>
              <a:gd name="adj" fmla="val 20093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757238"/>
          <a:ext cx="7924800" cy="3495675"/>
        </p:xfrm>
        <a:graphic>
          <a:graphicData uri="http://schemas.openxmlformats.org/drawingml/2006/table">
            <a:tbl>
              <a:tblPr/>
              <a:tblGrid>
                <a:gridCol w="2641600"/>
                <a:gridCol w="2641600"/>
                <a:gridCol w="2641600"/>
              </a:tblGrid>
              <a:tr h="582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Critère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Incident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Demande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Nature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Interruption imprévue ou dégradation d’un service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Besoin standardisé, prévisible, non bloquant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Objectif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Rétablir rapidement le service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Fournir un service ou un accès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Exemples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VPN indisponible, messagerie en panne, poste bloqué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Création de compte, ajout de droits, installation logicielle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Traitement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Diagnostic, correction, workaround, escalade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Circuit standard, parfois validation ou approbation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Priorité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Souvent pilotée par impact × urgence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Souvent délai standard ou catalogue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-233362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4F4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 vs demande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8675" y="4738688"/>
            <a:ext cx="752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Dans l’EC04, il faut montrer que tu ne gères pas un incident critique comme une simple demande de service. Cette distinction fait partie de l’évaluation.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85900"/>
            <a:ext cx="2489150" cy="1695450"/>
          </a:xfrm>
          <a:prstGeom prst="roundRect">
            <a:avLst>
              <a:gd name="adj" fmla="val 9707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485900"/>
            <a:ext cx="2489150" cy="1695450"/>
          </a:xfrm>
          <a:prstGeom prst="roundRect">
            <a:avLst>
              <a:gd name="adj" fmla="val 9707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485900"/>
            <a:ext cx="2489299" cy="1695450"/>
          </a:xfrm>
          <a:prstGeom prst="roundRect">
            <a:avLst>
              <a:gd name="adj" fmla="val 9707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409950"/>
            <a:ext cx="2489150" cy="1924050"/>
          </a:xfrm>
          <a:prstGeom prst="roundRect">
            <a:avLst>
              <a:gd name="adj" fmla="val 85545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27350" y="3409950"/>
            <a:ext cx="2489150" cy="1924050"/>
          </a:xfrm>
          <a:prstGeom prst="roundRect">
            <a:avLst>
              <a:gd name="adj" fmla="val 85545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45101" y="3409950"/>
            <a:ext cx="2489299" cy="1924050"/>
          </a:xfrm>
          <a:prstGeom prst="roundRect">
            <a:avLst>
              <a:gd name="adj" fmla="val 85545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-1905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4F4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Fonctionnement global du support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8675" y="1666875"/>
            <a:ext cx="2130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8675" y="1933575"/>
            <a:ext cx="2130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Réception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8675" y="2314575"/>
            <a:ext cx="208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ticket entre par portail, mail, téléphone ou supervision.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6425" y="1666875"/>
            <a:ext cx="2130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46425" y="1933575"/>
            <a:ext cx="2130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Qualification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46425" y="2314575"/>
            <a:ext cx="208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Type, catégorie, urgence, impact, priorité, groupe cible.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4176" y="1666875"/>
            <a:ext cx="2131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4176" y="1933575"/>
            <a:ext cx="2131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Traitement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4176" y="2314575"/>
            <a:ext cx="20892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support agit, documente, communique et met à jour le ticket.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8675" y="3590925"/>
            <a:ext cx="2130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8675" y="3857625"/>
            <a:ext cx="2130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Escalade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8675" y="4238625"/>
            <a:ext cx="2089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 le niveau courant ne peut pas résoudre, le ticket monte selon une règle définie.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46425" y="3590925"/>
            <a:ext cx="2130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46425" y="3857625"/>
            <a:ext cx="2130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Clôture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46425" y="4238625"/>
            <a:ext cx="208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solution est tracée et le dossier est refermé proprement.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4176" y="3590925"/>
            <a:ext cx="2131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4176" y="3857625"/>
            <a:ext cx="2131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Capitalisation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64176" y="4238625"/>
            <a:ext cx="20892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ticket sert à enrichir les procédures et améliorer le support.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123950"/>
            <a:ext cx="2489150" cy="27622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350" y="1123950"/>
            <a:ext cx="2489150" cy="27622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101" y="1123950"/>
            <a:ext cx="2489299" cy="27622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4191000"/>
            <a:ext cx="7924800" cy="819150"/>
          </a:xfrm>
          <a:prstGeom prst="roundRect">
            <a:avLst>
              <a:gd name="adj" fmla="val 20093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609600" y="133350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4F4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Rôles N1, N2 et N3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923925" y="1438275"/>
            <a:ext cx="18977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N1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923925" y="1704975"/>
            <a:ext cx="18977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 initial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923925" y="2124075"/>
            <a:ext cx="186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Accueil, qualification, résolution standard, communication, clôture des cas simples.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641675" y="1438275"/>
            <a:ext cx="18977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N2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641675" y="1704975"/>
            <a:ext cx="186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Expertise interne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3641675" y="2428875"/>
            <a:ext cx="186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Analyse technique, actions avancées, traitement des incidents complexes ou hors procédure.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359426" y="1438275"/>
            <a:ext cx="18978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N3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359426" y="1704975"/>
            <a:ext cx="186064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Expertise ultime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359426" y="2428875"/>
            <a:ext cx="186064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Éditeur, architecte, expert senior, fournisseur ou constructeur pour les cas critiques.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28675" y="4371975"/>
            <a:ext cx="752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 bon support ne fait pas tout au N2. Le N1 absorbe le standard, le N2 gère la complexité et le N3 reste réservé aux cas qui dépassent l’exploitation normale.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9700"/>
            <a:ext cx="3848100" cy="1657350"/>
          </a:xfrm>
          <a:prstGeom prst="roundRect">
            <a:avLst>
              <a:gd name="adj" fmla="val 9931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409700"/>
            <a:ext cx="3848100" cy="1657350"/>
          </a:xfrm>
          <a:prstGeom prst="roundRect">
            <a:avLst>
              <a:gd name="adj" fmla="val 9931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371850"/>
            <a:ext cx="1838325" cy="13525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425" y="3371850"/>
            <a:ext cx="1838325" cy="13525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371850"/>
            <a:ext cx="1838325" cy="13525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075" y="3371850"/>
            <a:ext cx="1838325" cy="13525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09600" y="419100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4F4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Critères de priorisation</a:t>
            </a:r>
            <a:endParaRPr lang="en-US" sz="3600" dirty="0"/>
          </a:p>
        </p:txBody>
      </p:sp>
      <p:sp>
        <p:nvSpPr>
          <p:cNvPr id="9" name="Text 3"/>
          <p:cNvSpPr/>
          <p:nvPr/>
        </p:nvSpPr>
        <p:spPr>
          <a:xfrm>
            <a:off x="828675" y="1590675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828675" y="1971675"/>
            <a:ext cx="34480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Nombre d’utilisateurs touchés.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Importance du service affecté.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Portée locale, équipe, site ou entreprise.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905375" y="1590675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Urgence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4905375" y="1971675"/>
            <a:ext cx="34480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Vitesse à laquelle il faut agir.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Délai acceptable pour l’activité.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Existence ou non d’un contournement.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09625" y="3571875"/>
            <a:ext cx="14670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P1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809625" y="3838575"/>
            <a:ext cx="14670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Critique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09625" y="4143375"/>
            <a:ext cx="1438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 fort + urgence forte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2838450" y="3571875"/>
            <a:ext cx="14670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P2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2838450" y="3838575"/>
            <a:ext cx="14670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Haute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2838450" y="4143375"/>
            <a:ext cx="1438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Service dégradé important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4867275" y="3571875"/>
            <a:ext cx="14670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P3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867275" y="3838575"/>
            <a:ext cx="14670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Moyenne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867275" y="4143375"/>
            <a:ext cx="14670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Incident standard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896100" y="3571875"/>
            <a:ext cx="14670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P4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896100" y="3838575"/>
            <a:ext cx="14670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Basse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96100" y="4143375"/>
            <a:ext cx="1438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Demande ou faible impact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348038"/>
            <a:ext cx="2489150" cy="1619250"/>
          </a:xfrm>
          <a:prstGeom prst="roundRect">
            <a:avLst>
              <a:gd name="adj" fmla="val 10164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3348038"/>
            <a:ext cx="2489150" cy="1619250"/>
          </a:xfrm>
          <a:prstGeom prst="roundRect">
            <a:avLst>
              <a:gd name="adj" fmla="val 10164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3348038"/>
            <a:ext cx="2489299" cy="1619250"/>
          </a:xfrm>
          <a:prstGeom prst="roundRect">
            <a:avLst>
              <a:gd name="adj" fmla="val 10164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66813"/>
          <a:ext cx="7924800" cy="1876425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  <a:gridCol w="1981200"/>
              </a:tblGrid>
              <a:tr h="4691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Impact / Urgence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Faible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Moyenne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Forte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691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Faible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P4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P3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P2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1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Moyen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P3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P2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P1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1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Fort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P2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P1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P1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600" y="176213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4F4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Matrice simple pour l’EC04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8675" y="3529013"/>
            <a:ext cx="2130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Exemple P1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8675" y="3871913"/>
            <a:ext cx="208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VPN de tout un site indisponible : impact fort, urgence forte.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46425" y="3529013"/>
            <a:ext cx="2130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Exemple P2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546425" y="3871913"/>
            <a:ext cx="2089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 métier lente pour une équipe : impact moyen, urgence moyenne à forte.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64176" y="3529013"/>
            <a:ext cx="2131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Exemple P4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64176" y="3871913"/>
            <a:ext cx="20892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Installation d’un logiciel non urgent : demande standard ou priorité basse.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214813"/>
            <a:ext cx="7924800" cy="819150"/>
          </a:xfrm>
          <a:prstGeom prst="roundRect">
            <a:avLst>
              <a:gd name="adj" fmla="val 20093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00138"/>
          <a:ext cx="7924800" cy="2809875"/>
        </p:xfrm>
        <a:graphic>
          <a:graphicData uri="http://schemas.openxmlformats.org/drawingml/2006/table">
            <a:tbl>
              <a:tblPr/>
              <a:tblGrid>
                <a:gridCol w="1320800"/>
                <a:gridCol w="1320800"/>
                <a:gridCol w="1320800"/>
                <a:gridCol w="1320800"/>
                <a:gridCol w="1320800"/>
                <a:gridCol w="1320800"/>
              </a:tblGrid>
              <a:tr h="468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Impact \ Urgence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Très faible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Faible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Moyenne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Forte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Très forte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Très faible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Très faible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Faible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Moyenne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Haute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Faible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Faible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Moyenne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Haute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Moyenne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Moyenne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Haute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Forte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Haute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Très forte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4F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Majeure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109538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4F4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Matrice GLPI plus détaillée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8675" y="4395788"/>
            <a:ext cx="752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Tu peux l’utiliser si tu veux une réponse plus professionnelle et plus proche d’un paramétrage réel GLPI.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71625"/>
            <a:ext cx="3848100" cy="2990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86300" y="1571625"/>
            <a:ext cx="3848100" cy="2990850"/>
          </a:xfrm>
          <a:prstGeom prst="roundRect">
            <a:avLst>
              <a:gd name="adj" fmla="val 5503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58102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4F4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SLA et escalades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23925" y="1885950"/>
            <a:ext cx="3283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Exemple de délais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23925" y="2305050"/>
            <a:ext cx="321945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P1 : prise en charge immédiate, résolution visée sous 15 min à 1 h.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P2 : prise en charge rapide, résolution sous 2 à 4 h.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P3 : traitement standard dans la journée.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P4 : traitement planifié.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05375" y="1752600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Exemple d’escalade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05375" y="2171700"/>
            <a:ext cx="34480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P1 : N1 qualifie puis escalade immédiatement à N2/N3.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P2 : tentative N1 courte puis bascule N2.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P3 : N1 traite, N2 uniquement si besoin technique.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P4 : file standard ou catalogue de service.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66900"/>
            <a:ext cx="3848100" cy="1428750"/>
          </a:xfrm>
          <a:prstGeom prst="roundRect">
            <a:avLst>
              <a:gd name="adj" fmla="val 1152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866900"/>
            <a:ext cx="3848100" cy="1428750"/>
          </a:xfrm>
          <a:prstGeom prst="roundRect">
            <a:avLst>
              <a:gd name="adj" fmla="val 1152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24250"/>
            <a:ext cx="3848100" cy="1428750"/>
          </a:xfrm>
          <a:prstGeom prst="roundRect">
            <a:avLst>
              <a:gd name="adj" fmla="val 1152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3524250"/>
            <a:ext cx="3848100" cy="1428750"/>
          </a:xfrm>
          <a:prstGeom prst="roundRect">
            <a:avLst>
              <a:gd name="adj" fmla="val 1152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905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4F4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 qu’il faut faire dans l’étude de cas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8675" y="2047875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8675" y="2428875"/>
            <a:ext cx="3448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Identifier le contexte, les utilisateurs, les services critiques, les incidents récurrents et les besoins de support.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05375" y="2047875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Concevoir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05375" y="2428875"/>
            <a:ext cx="3448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Définir workflow, rôles N1/N2/N3, catégories, priorités, SLA, escalades, états du ticket et base de connaissance.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8675" y="3705225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Différencier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8675" y="4086225"/>
            <a:ext cx="3448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Séparer clairement incidents et demandes, avec des circuits de traitement adaptés.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05375" y="3705225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Justifier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05375" y="4086225"/>
            <a:ext cx="3448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Expliquer pourquoi la priorité, le niveau d’escalade et les délais choisis sont cohérents avec l’activité métier.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85900"/>
            <a:ext cx="3848100" cy="19240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485900"/>
            <a:ext cx="3848100" cy="19240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38550"/>
            <a:ext cx="3848100" cy="1695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3638550"/>
            <a:ext cx="3848100" cy="16954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09600" y="-19050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4F4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 l’on part de zéro ou d’un existant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923925" y="1800225"/>
            <a:ext cx="3283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Depuis zéro</a:t>
            </a:r>
            <a:endParaRPr lang="en-US" sz="1500" dirty="0"/>
          </a:p>
        </p:txBody>
      </p:sp>
      <p:sp>
        <p:nvSpPr>
          <p:cNvPr id="8" name="Text 2"/>
          <p:cNvSpPr/>
          <p:nvPr/>
        </p:nvSpPr>
        <p:spPr>
          <a:xfrm>
            <a:off x="923925" y="2181225"/>
            <a:ext cx="32194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Définir périmètre, outils, niveaux de support, workflow, SLA, catégories et communication avant de lancer le service.</a:t>
            </a:r>
            <a:endParaRPr lang="en-US" sz="1200" dirty="0"/>
          </a:p>
        </p:txBody>
      </p:sp>
      <p:sp>
        <p:nvSpPr>
          <p:cNvPr id="9" name="Text 3"/>
          <p:cNvSpPr/>
          <p:nvPr/>
        </p:nvSpPr>
        <p:spPr>
          <a:xfrm>
            <a:off x="5000625" y="1800225"/>
            <a:ext cx="3283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Depuis un existant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5000625" y="2181225"/>
            <a:ext cx="32194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Auditer les tickets, corriger les catégories, revoir les priorités, réduire les escalades inutiles et améliorer la documentation.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923925" y="3952875"/>
            <a:ext cx="3283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Dans les deux cas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923925" y="4333875"/>
            <a:ext cx="3219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but reste le même : rendre le support plus clair, plus rapide, plus mesurable et plus reproductible.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5000625" y="3952875"/>
            <a:ext cx="3283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Point de vigilance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5000625" y="4333875"/>
            <a:ext cx="3219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 pas confondre modernisation de l’outil avec organisation du support. L’outil ne remplace pas le processus.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09775"/>
            <a:ext cx="3810000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76525"/>
            <a:ext cx="3810000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43275"/>
            <a:ext cx="3810000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010025"/>
            <a:ext cx="3810000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24400" y="1704975"/>
            <a:ext cx="3810000" cy="2724150"/>
          </a:xfrm>
          <a:prstGeom prst="roundRect">
            <a:avLst>
              <a:gd name="adj" fmla="val 6042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71437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4F4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Indicateurs à montrer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09600" y="1704975"/>
            <a:ext cx="192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Taux de résolution au N1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80867" y="1704975"/>
            <a:ext cx="345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371725"/>
            <a:ext cx="18691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Tickets escaladés au N2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80867" y="2371725"/>
            <a:ext cx="345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3038475"/>
            <a:ext cx="925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Dossiers N3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80867" y="3038475"/>
            <a:ext cx="345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705225"/>
            <a:ext cx="9630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Respect SLA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80867" y="3705225"/>
            <a:ext cx="345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43475" y="1885950"/>
            <a:ext cx="34781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KPI utiles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43475" y="2305050"/>
            <a:ext cx="340995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Délai de prise en charge.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Délai moyen de résolution.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Respect des SLA par priorité.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Taux de réouverture.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Répartition incidents / demandes.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Qualité de résolution au N1.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34479"/>
            <a:ext cx="8083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0"/>
              </a:lnSpc>
              <a:buNone/>
            </a:pPr>
            <a:r>
              <a:rPr lang="en-US" sz="7200" dirty="0">
                <a:solidFill>
                  <a:srgbClr val="F4F4F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✅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30352" y="2396579"/>
            <a:ext cx="8083296" cy="937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80"/>
              </a:lnSpc>
              <a:buNone/>
            </a:pPr>
            <a:r>
              <a:rPr lang="en-US" sz="492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Réussir l’EC04</a:t>
            </a:r>
            <a:endParaRPr lang="en-US" sz="4920" dirty="0"/>
          </a:p>
        </p:txBody>
      </p:sp>
      <p:sp>
        <p:nvSpPr>
          <p:cNvPr id="4" name="Text 2"/>
          <p:cNvSpPr/>
          <p:nvPr/>
        </p:nvSpPr>
        <p:spPr>
          <a:xfrm>
            <a:off x="609600" y="3486150"/>
            <a:ext cx="79248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Montre que tu sais distinguer incident et demande, prioriser avec une matrice ITIL, organiser N1/N2/N3, définir SLA et escalades, puis piloter le support avec des indicateurs mesurables.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2026-03-31T21:20:49Z</dcterms:created>
  <dcterms:modified xsi:type="dcterms:W3CDTF">2026-03-31T21:20:49Z</dcterms:modified>
</cp:coreProperties>
</file>