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1017" y="1343769"/>
            <a:ext cx="1921818" cy="265658"/>
          </a:xfrm>
          <a:prstGeom prst="roundRect">
            <a:avLst>
              <a:gd name="adj" fmla="val 34385774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ctr" indent="0" marL="0">
              <a:buNone/>
            </a:pPr>
            <a:r>
              <a:rPr lang="en-US" sz="912" dirty="0">
                <a:solidFill>
                  <a:srgbClr val="CFE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Organisation du support ITSM</a:t>
            </a:r>
            <a:endParaRPr lang="en-US" sz="912" dirty="0"/>
          </a:p>
        </p:txBody>
      </p:sp>
      <p:sp>
        <p:nvSpPr>
          <p:cNvPr id="3" name="Text 1"/>
          <p:cNvSpPr/>
          <p:nvPr/>
        </p:nvSpPr>
        <p:spPr>
          <a:xfrm>
            <a:off x="374904" y="257919"/>
            <a:ext cx="8394192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0"/>
              </a:lnSpc>
              <a:buNone/>
            </a:pPr>
            <a:r>
              <a:rPr lang="en-US" sz="7350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🎧</a:t>
            </a:r>
            <a:endParaRPr lang="en-US" sz="7350" dirty="0"/>
          </a:p>
        </p:txBody>
      </p:sp>
      <p:sp>
        <p:nvSpPr>
          <p:cNvPr id="4" name="Text 2"/>
          <p:cNvSpPr/>
          <p:nvPr/>
        </p:nvSpPr>
        <p:spPr>
          <a:xfrm>
            <a:off x="457200" y="1761827"/>
            <a:ext cx="8229600" cy="237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360"/>
              </a:lnSpc>
              <a:buNone/>
            </a:pPr>
            <a:r>
              <a:rPr lang="en-US" sz="624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KPI, SLA, catégories et paramétrage de l’outil</a:t>
            </a:r>
            <a:endParaRPr lang="en-US" sz="6240" dirty="0"/>
          </a:p>
        </p:txBody>
      </p:sp>
      <p:sp>
        <p:nvSpPr>
          <p:cNvPr id="5" name="Text 3"/>
          <p:cNvSpPr/>
          <p:nvPr/>
        </p:nvSpPr>
        <p:spPr>
          <a:xfrm>
            <a:off x="523875" y="4291608"/>
            <a:ext cx="8096250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Structurer un support N1 / N2 / N3 avec règles d’assignation, groupes, priorités, catégories, sous-catégories et pilotage dans un outil ITSM comme GLPI.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31094"/>
            <a:ext cx="8763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73994"/>
            <a:ext cx="2590800" cy="2722811"/>
          </a:xfrm>
          <a:prstGeom prst="roundRect">
            <a:avLst>
              <a:gd name="adj" fmla="val 7764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95325" y="1712119"/>
            <a:ext cx="362099" cy="265658"/>
          </a:xfrm>
          <a:prstGeom prst="roundRect">
            <a:avLst>
              <a:gd name="adj" fmla="val 34385774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l" indent="0" marL="0">
              <a:buNone/>
            </a:pPr>
            <a:r>
              <a:rPr lang="en-US" sz="912" dirty="0">
                <a:solidFill>
                  <a:srgbClr val="CFE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N1</a:t>
            </a:r>
            <a:endParaRPr lang="en-US" sz="912" dirty="0"/>
          </a:p>
        </p:txBody>
      </p:sp>
      <p:sp>
        <p:nvSpPr>
          <p:cNvPr id="5" name="Text 2"/>
          <p:cNvSpPr/>
          <p:nvPr/>
        </p:nvSpPr>
        <p:spPr>
          <a:xfrm>
            <a:off x="3276600" y="1473994"/>
            <a:ext cx="2590800" cy="2722811"/>
          </a:xfrm>
          <a:prstGeom prst="roundRect">
            <a:avLst>
              <a:gd name="adj" fmla="val 7764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514725" y="1712119"/>
            <a:ext cx="362099" cy="265658"/>
          </a:xfrm>
          <a:prstGeom prst="roundRect">
            <a:avLst>
              <a:gd name="adj" fmla="val 34385774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l" indent="0" marL="0">
              <a:buNone/>
            </a:pPr>
            <a:r>
              <a:rPr lang="en-US" sz="912" dirty="0">
                <a:solidFill>
                  <a:srgbClr val="CFE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N2</a:t>
            </a:r>
            <a:endParaRPr lang="en-US" sz="912" dirty="0"/>
          </a:p>
        </p:txBody>
      </p:sp>
      <p:sp>
        <p:nvSpPr>
          <p:cNvPr id="7" name="Text 4"/>
          <p:cNvSpPr/>
          <p:nvPr/>
        </p:nvSpPr>
        <p:spPr>
          <a:xfrm>
            <a:off x="6096000" y="1473994"/>
            <a:ext cx="2590800" cy="2722811"/>
          </a:xfrm>
          <a:prstGeom prst="roundRect">
            <a:avLst>
              <a:gd name="adj" fmla="val 7764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34125" y="1712119"/>
            <a:ext cx="362099" cy="265658"/>
          </a:xfrm>
          <a:prstGeom prst="roundRect">
            <a:avLst>
              <a:gd name="adj" fmla="val 34385774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l" indent="0" marL="0">
              <a:buNone/>
            </a:pPr>
            <a:r>
              <a:rPr lang="en-US" sz="912" dirty="0">
                <a:solidFill>
                  <a:srgbClr val="CFE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N3</a:t>
            </a:r>
            <a:endParaRPr lang="en-US" sz="912" dirty="0"/>
          </a:p>
        </p:txBody>
      </p:sp>
      <p:sp>
        <p:nvSpPr>
          <p:cNvPr id="9" name="Text 6"/>
          <p:cNvSpPr/>
          <p:nvPr/>
        </p:nvSpPr>
        <p:spPr>
          <a:xfrm>
            <a:off x="457200" y="311944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1. Organisation cible du support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95325" y="2092077"/>
            <a:ext cx="2156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Centre de services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5325" y="2473077"/>
            <a:ext cx="2114550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Point d’entrée unique, qualification initiale, collecte des informations, résolution standard, communication avec l’utilisateur, respect du délai de prise en charge.</a:t>
            </a:r>
            <a:endParaRPr lang="en-US" sz="1104" dirty="0"/>
          </a:p>
        </p:txBody>
      </p:sp>
      <p:sp>
        <p:nvSpPr>
          <p:cNvPr id="12" name="Text 9"/>
          <p:cNvSpPr/>
          <p:nvPr/>
        </p:nvSpPr>
        <p:spPr>
          <a:xfrm>
            <a:off x="3514725" y="2092077"/>
            <a:ext cx="2114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Expertise technique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14725" y="2739777"/>
            <a:ext cx="2114550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Analyse avancée, actions systèmes, réseau ou applicatives, traitement des incidents non couverts par les procédures N1, diagnostic approfondi.</a:t>
            </a:r>
            <a:endParaRPr lang="en-US" sz="1104" dirty="0"/>
          </a:p>
        </p:txBody>
      </p:sp>
      <p:sp>
        <p:nvSpPr>
          <p:cNvPr id="14" name="Text 11"/>
          <p:cNvSpPr/>
          <p:nvPr/>
        </p:nvSpPr>
        <p:spPr>
          <a:xfrm>
            <a:off x="6334125" y="2092077"/>
            <a:ext cx="2156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Référents / éditeur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34125" y="2473077"/>
            <a:ext cx="2114550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Cas complexes, bugs, architecture, expertise produit, changement durable, correctif, interface avec l’éditeur ou l’équipe d’ingénierie.</a:t>
            </a:r>
            <a:endParaRPr lang="en-US" sz="1104" dirty="0"/>
          </a:p>
        </p:txBody>
      </p:sp>
      <p:sp>
        <p:nvSpPr>
          <p:cNvPr id="16" name="Text 13"/>
          <p:cNvSpPr/>
          <p:nvPr/>
        </p:nvSpPr>
        <p:spPr>
          <a:xfrm>
            <a:off x="457200" y="4425404"/>
            <a:ext cx="8229600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principe de base est de faire entrer tous les tickets dans une file unique, puis de les trier selon leur type, catégorie, impact, urgence, priorité et groupe assigné.</a:t>
            </a:r>
            <a:endParaRPr lang="en-US" sz="110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0723"/>
            <a:ext cx="4000500" cy="2977753"/>
          </a:xfrm>
          <a:prstGeom prst="roundRect">
            <a:avLst>
              <a:gd name="adj" fmla="val 6755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260723"/>
            <a:ext cx="4000500" cy="2977753"/>
          </a:xfrm>
          <a:prstGeom prst="roundRect">
            <a:avLst>
              <a:gd name="adj" fmla="val 6755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70123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2. Ce qu’il faut paramétrer dans l’outil ITSM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95325" y="1498848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 fonctionnelle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5325" y="1917948"/>
            <a:ext cx="3524250" cy="167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Types de tickets : incident / demande.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Catégories et sous-catégories hiérarchiques.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Statuts du cycle de vie.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Sources de ticket : portail, mail, téléphone, technicien.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Groupes de support par domaine technique.</a:t>
            </a:r>
            <a:endParaRPr lang="en-US" sz="1104" dirty="0"/>
          </a:p>
        </p:txBody>
      </p:sp>
      <p:sp>
        <p:nvSpPr>
          <p:cNvPr id="7" name="Text 5"/>
          <p:cNvSpPr/>
          <p:nvPr/>
        </p:nvSpPr>
        <p:spPr>
          <a:xfrm>
            <a:off x="4924425" y="1498848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Règles de gestion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24425" y="1917948"/>
            <a:ext cx="3524250" cy="208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Matrice impact × urgence = priorité.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SLA : TTO pour l’assignation, TTR pour la résolution.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Assignation automatique par catégorie ou élément.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Notifications, escalades, relances.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Articles de base de connaissances et modèles de tickets.</a:t>
            </a:r>
            <a:endParaRPr lang="en-US" sz="1104" dirty="0"/>
          </a:p>
        </p:txBody>
      </p:sp>
      <p:sp>
        <p:nvSpPr>
          <p:cNvPr id="9" name="Text 7"/>
          <p:cNvSpPr/>
          <p:nvPr/>
        </p:nvSpPr>
        <p:spPr>
          <a:xfrm>
            <a:off x="457200" y="4467076"/>
            <a:ext cx="8229600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Dans GLPI, une catégorie peut être hiérarchisée, associée à un groupe technique, un responsable, un modèle et même une catégorie de base de connaissances.</a:t>
            </a:r>
            <a:endParaRPr lang="en-US" sz="110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737"/>
            <a:ext cx="2616101" cy="1603325"/>
          </a:xfrm>
          <a:prstGeom prst="roundRect">
            <a:avLst>
              <a:gd name="adj" fmla="val 12546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63801" y="1417737"/>
            <a:ext cx="2616250" cy="1603325"/>
          </a:xfrm>
          <a:prstGeom prst="roundRect">
            <a:avLst>
              <a:gd name="adj" fmla="val 12546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70550" y="1417737"/>
            <a:ext cx="2616101" cy="1603325"/>
          </a:xfrm>
          <a:prstGeom prst="roundRect">
            <a:avLst>
              <a:gd name="adj" fmla="val 12546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249662"/>
            <a:ext cx="8229600" cy="1466701"/>
          </a:xfrm>
          <a:prstGeom prst="roundRect">
            <a:avLst>
              <a:gd name="adj" fmla="val 13715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27137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3. Catégories et sous-catégories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7225" y="1617762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Poste utilisateur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7225" y="1998762"/>
            <a:ext cx="2216051" cy="822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Compte / mot de passe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Messagerie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Suite bureautique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Impression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poste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3463826" y="1617762"/>
            <a:ext cx="22605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63826" y="1998762"/>
            <a:ext cx="2216200" cy="822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Réseau LAN/Wi-Fi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VPN / accès distant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Serveurs Windows/Linux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Virtualisation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Sauvegarde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270575" y="1617762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70575" y="1998762"/>
            <a:ext cx="2216051" cy="822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ERP / logiciel métier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Droits d’accès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de données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Bug applicatif</a:t>
            </a:r>
            <a:endParaRPr lang="en-US" sz="960" dirty="0"/>
          </a:p>
          <a:p>
            <a:pPr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Interfaçage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695325" y="3487787"/>
            <a:ext cx="7908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Règle de conception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5325" y="3868787"/>
            <a:ext cx="7753350" cy="60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Les utilisateurs finaux ne doivent pas voir trop de catégories, sinon la saisie devient difficile. Le support, lui, peut affiner ensuite avec une sous-catégorie plus précise pour alimenter l’assignation, les statistiques, les SLA et la base de connaissances.</a:t>
            </a:r>
            <a:endParaRPr lang="en-US" sz="110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3785"/>
          <a:ext cx="8229600" cy="3031629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05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6" b="1" dirty="0">
                          <a:solidFill>
                            <a:srgbClr val="E2E8F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Catégorie</a:t>
                      </a:r>
                      <a:endParaRPr lang="en-US" sz="93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6" b="1" dirty="0">
                          <a:solidFill>
                            <a:srgbClr val="E2E8F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Sous-catégorie</a:t>
                      </a:r>
                      <a:endParaRPr lang="en-US" sz="93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6" b="1" dirty="0">
                          <a:solidFill>
                            <a:srgbClr val="E2E8F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Groupe assigné</a:t>
                      </a:r>
                      <a:endParaRPr lang="en-US" sz="93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6" b="1" dirty="0">
                          <a:solidFill>
                            <a:srgbClr val="E2E8F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Niveau</a:t>
                      </a:r>
                      <a:endParaRPr lang="en-US" sz="93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6" b="1" dirty="0">
                          <a:solidFill>
                            <a:srgbClr val="E2E8F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Remarque</a:t>
                      </a:r>
                      <a:endParaRPr lang="en-US" sz="93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Poste utilisateur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Mot de passe / compte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Helpdesk Utilisateurs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N1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Traitement standard et rapide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Poste utilisateur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Messagerie Outlook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Helpdesk Utilisateurs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N1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Escalade N2 si problème M365 ou serveur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Infrastructure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Wi‑Fi / switch / VPN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Équipe Réseau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N2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Affectation directe possible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Infrastructure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Serveur / AD / GPO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Équipe Systèmes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N2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Pour incident serveur ou authentification globale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Applicatif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Bug logiciel métier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Référent Applicatif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N2/N3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Escalade éditeur si anomalie confirmée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43185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4. Groupes et assignation automatique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4494014"/>
            <a:ext cx="8229600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GLPI permet une assignation automatique basée sur la catégorie puis l’élément, ou l’élément puis la catégorie, selon le mode choisi au niveau de l’entité.</a:t>
            </a:r>
            <a:endParaRPr lang="en-US" sz="110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94879"/>
            <a:ext cx="1524000" cy="3180755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09800" y="694879"/>
            <a:ext cx="1547813" cy="1305669"/>
          </a:xfrm>
          <a:prstGeom prst="roundRect">
            <a:avLst>
              <a:gd name="adj" fmla="val 1120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00052" y="1481584"/>
            <a:ext cx="367308" cy="265658"/>
          </a:xfrm>
          <a:prstGeom prst="roundRect">
            <a:avLst>
              <a:gd name="adj" fmla="val 34385774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CFE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P4</a:t>
            </a:r>
            <a:endParaRPr lang="en-US" sz="912" dirty="0"/>
          </a:p>
        </p:txBody>
      </p:sp>
      <p:sp>
        <p:nvSpPr>
          <p:cNvPr id="5" name="Text 3"/>
          <p:cNvSpPr/>
          <p:nvPr/>
        </p:nvSpPr>
        <p:spPr>
          <a:xfrm>
            <a:off x="3852863" y="694879"/>
            <a:ext cx="1547813" cy="1305669"/>
          </a:xfrm>
          <a:prstGeom prst="roundRect">
            <a:avLst>
              <a:gd name="adj" fmla="val 1120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3115" y="1595884"/>
            <a:ext cx="367308" cy="265658"/>
          </a:xfrm>
          <a:prstGeom prst="roundRect">
            <a:avLst>
              <a:gd name="adj" fmla="val 34385774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CFE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P4</a:t>
            </a:r>
            <a:endParaRPr lang="en-US" sz="912" dirty="0"/>
          </a:p>
        </p:txBody>
      </p:sp>
      <p:sp>
        <p:nvSpPr>
          <p:cNvPr id="7" name="Text 5"/>
          <p:cNvSpPr/>
          <p:nvPr/>
        </p:nvSpPr>
        <p:spPr>
          <a:xfrm>
            <a:off x="5495925" y="694879"/>
            <a:ext cx="1547813" cy="1305669"/>
          </a:xfrm>
          <a:prstGeom prst="roundRect">
            <a:avLst>
              <a:gd name="adj" fmla="val 1120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86177" y="1481584"/>
            <a:ext cx="367308" cy="265658"/>
          </a:xfrm>
          <a:prstGeom prst="roundRect">
            <a:avLst>
              <a:gd name="adj" fmla="val 34385774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CFE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P3</a:t>
            </a:r>
            <a:endParaRPr lang="en-US" sz="912" dirty="0"/>
          </a:p>
        </p:txBody>
      </p:sp>
      <p:sp>
        <p:nvSpPr>
          <p:cNvPr id="9" name="Text 7"/>
          <p:cNvSpPr/>
          <p:nvPr/>
        </p:nvSpPr>
        <p:spPr>
          <a:xfrm>
            <a:off x="7138988" y="694879"/>
            <a:ext cx="1547813" cy="1305669"/>
          </a:xfrm>
          <a:prstGeom prst="roundRect">
            <a:avLst>
              <a:gd name="adj" fmla="val 1120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29240" y="1595884"/>
            <a:ext cx="367308" cy="265658"/>
          </a:xfrm>
          <a:prstGeom prst="roundRect">
            <a:avLst>
              <a:gd name="adj" fmla="val 34385774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CFE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P3</a:t>
            </a:r>
            <a:endParaRPr lang="en-US" sz="912" dirty="0"/>
          </a:p>
        </p:txBody>
      </p:sp>
      <p:sp>
        <p:nvSpPr>
          <p:cNvPr id="11" name="Text 9"/>
          <p:cNvSpPr/>
          <p:nvPr/>
        </p:nvSpPr>
        <p:spPr>
          <a:xfrm>
            <a:off x="2209800" y="2095798"/>
            <a:ext cx="1547813" cy="1192411"/>
          </a:xfrm>
          <a:prstGeom prst="roundRect">
            <a:avLst>
              <a:gd name="adj" fmla="val 122696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52863" y="2095798"/>
            <a:ext cx="1547813" cy="1192411"/>
          </a:xfrm>
          <a:prstGeom prst="roundRect">
            <a:avLst>
              <a:gd name="adj" fmla="val 122696"/>
            </a:avLst>
          </a:prstGeom>
          <a:solidFill>
            <a:srgbClr val="22C55E">
              <a:alpha val="16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95925" y="2095798"/>
            <a:ext cx="1547813" cy="1192411"/>
          </a:xfrm>
          <a:prstGeom prst="roundRect">
            <a:avLst>
              <a:gd name="adj" fmla="val 122696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38988" y="2095798"/>
            <a:ext cx="1547813" cy="1192411"/>
          </a:xfrm>
          <a:prstGeom prst="roundRect">
            <a:avLst>
              <a:gd name="adj" fmla="val 122696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09800" y="3383459"/>
            <a:ext cx="1547813" cy="1421011"/>
          </a:xfrm>
          <a:prstGeom prst="roundRect">
            <a:avLst>
              <a:gd name="adj" fmla="val 102958"/>
            </a:avLst>
          </a:prstGeom>
          <a:solidFill>
            <a:srgbClr val="22C55E">
              <a:alpha val="16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52863" y="3383459"/>
            <a:ext cx="1547813" cy="1421011"/>
          </a:xfrm>
          <a:prstGeom prst="roundRect">
            <a:avLst>
              <a:gd name="adj" fmla="val 102958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95925" y="3383459"/>
            <a:ext cx="1547813" cy="1421011"/>
          </a:xfrm>
          <a:prstGeom prst="roundRect">
            <a:avLst>
              <a:gd name="adj" fmla="val 102958"/>
            </a:avLst>
          </a:prstGeom>
          <a:solidFill>
            <a:srgbClr val="EF4444">
              <a:alpha val="22000"/>
            </a:srgbClr>
          </a:solidFill>
          <a:ln w="9525">
            <a:solidFill>
              <a:srgbClr val="EF444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38988" y="3383459"/>
            <a:ext cx="1547813" cy="1421011"/>
          </a:xfrm>
          <a:prstGeom prst="roundRect">
            <a:avLst>
              <a:gd name="adj" fmla="val 102958"/>
            </a:avLst>
          </a:prstGeom>
          <a:solidFill>
            <a:srgbClr val="EF4444">
              <a:alpha val="22000"/>
            </a:srgbClr>
          </a:solidFill>
          <a:ln w="9525">
            <a:solidFill>
              <a:srgbClr val="EF444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-295721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5. Priorisation et matrice ITIL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57225" y="894904"/>
            <a:ext cx="11464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Logique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7225" y="1237804"/>
            <a:ext cx="1123950" cy="243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Urgence = importance vue par le demandeur. Impact = conséquence métier estimée par le support. Priorité = résultat automatique du croisement.</a:t>
            </a:r>
            <a:endParaRPr lang="en-US" sz="1104" dirty="0"/>
          </a:p>
        </p:txBody>
      </p:sp>
      <p:sp>
        <p:nvSpPr>
          <p:cNvPr id="22" name="Text 20"/>
          <p:cNvSpPr/>
          <p:nvPr/>
        </p:nvSpPr>
        <p:spPr>
          <a:xfrm>
            <a:off x="2209800" y="2095798"/>
            <a:ext cx="1547813" cy="1192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 moyen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Urgence faible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52863" y="2095798"/>
            <a:ext cx="1547813" cy="1192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 moyen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Urgence moyenne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95925" y="2095798"/>
            <a:ext cx="1547813" cy="1192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 moyen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Urgence haute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8988" y="2095798"/>
            <a:ext cx="1547813" cy="1192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 moyen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Urgence très haute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09800" y="3383459"/>
            <a:ext cx="1547813" cy="142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 fort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Urgence faible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52863" y="3383459"/>
            <a:ext cx="1547813" cy="142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 fort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Urgence moyenne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95925" y="3383459"/>
            <a:ext cx="1547813" cy="142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 fort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Urgence haute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8988" y="3383459"/>
            <a:ext cx="1547813" cy="142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 critique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Urgence très haute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5033070"/>
            <a:ext cx="8229600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Dans GLPI, si une règle modifie l’urgence ou l’impact, il faut aussi recalculer la priorité pour conserver une cohérence de traitement.</a:t>
            </a:r>
            <a:endParaRPr lang="en-US" sz="110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2718"/>
          <a:ext cx="8229600" cy="3433763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722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6" b="1" dirty="0">
                          <a:solidFill>
                            <a:srgbClr val="E2E8F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Catégorie</a:t>
                      </a:r>
                      <a:endParaRPr lang="en-US" sz="93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6" b="1" dirty="0">
                          <a:solidFill>
                            <a:srgbClr val="E2E8F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Exemple</a:t>
                      </a:r>
                      <a:endParaRPr lang="en-US" sz="93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6" b="1" dirty="0">
                          <a:solidFill>
                            <a:srgbClr val="E2E8F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Priorité</a:t>
                      </a:r>
                      <a:endParaRPr lang="en-US" sz="93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6" b="1" dirty="0">
                          <a:solidFill>
                            <a:srgbClr val="E2E8F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TTO</a:t>
                      </a:r>
                      <a:endParaRPr lang="en-US" sz="93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6" b="1" dirty="0">
                          <a:solidFill>
                            <a:srgbClr val="E2E8F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TTR</a:t>
                      </a:r>
                      <a:endParaRPr lang="en-US" sz="93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6" b="1" dirty="0">
                          <a:solidFill>
                            <a:srgbClr val="E2E8F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Assignation cible</a:t>
                      </a:r>
                      <a:endParaRPr lang="en-US" sz="93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2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Compte utilisateur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Réinitialisation mot de passe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P4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30 min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4 h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N1 - Helpdesk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2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Messagerie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Boîte mail indisponible pour 1 utilisateur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P3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30 min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8 h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N1 puis N2 messagerie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2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Réseau local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Bureau sans accès réseau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P2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15 min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4 h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N2 Réseau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2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Serveur critique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AD ou fichier indisponible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P1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10 min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2 h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N2 Systèmes + astreinte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2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Applicatif métier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Bug bloquant multi-utilisateurs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P1/P2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15 min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4 h à 8 h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6" dirty="0">
                          <a:solidFill>
                            <a:srgbClr val="EEF2FF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N2 Applicatif puis N3/éditeur</a:t>
                      </a:r>
                      <a:endParaRPr lang="en-US" sz="105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42118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6. SLA par catégorie d’incident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4695081"/>
            <a:ext cx="8229600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TTO correspond au délai maximal d’assignation, alors que le TTR correspond au délai maximal de résolution. Les valeurs sont à adapter à la criticité métier réelle.</a:t>
            </a:r>
            <a:endParaRPr lang="en-US" sz="110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40048"/>
            <a:ext cx="2590800" cy="2342852"/>
          </a:xfrm>
          <a:prstGeom prst="roundRect">
            <a:avLst>
              <a:gd name="adj" fmla="val 858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76600" y="1340048"/>
            <a:ext cx="2590800" cy="2342852"/>
          </a:xfrm>
          <a:prstGeom prst="roundRect">
            <a:avLst>
              <a:gd name="adj" fmla="val 858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1340048"/>
            <a:ext cx="2590800" cy="2342852"/>
          </a:xfrm>
          <a:prstGeom prst="roundRect">
            <a:avLst>
              <a:gd name="adj" fmla="val 858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911501"/>
            <a:ext cx="8229600" cy="882551"/>
          </a:xfrm>
          <a:prstGeom prst="roundRect">
            <a:avLst>
              <a:gd name="adj" fmla="val 22793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349448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7. Escalades N1 → N2 → N3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5325" y="1578173"/>
            <a:ext cx="2114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Escalade fonctionnelle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5325" y="2225873"/>
            <a:ext cx="2114550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ticket change de niveau car il sort du périmètre N1, nécessite une expertise particulière ou concerne plusieurs utilisateurs / un service métier entier.</a:t>
            </a:r>
            <a:endParaRPr lang="en-US" sz="1104" dirty="0"/>
          </a:p>
        </p:txBody>
      </p:sp>
      <p:sp>
        <p:nvSpPr>
          <p:cNvPr id="9" name="Text 7"/>
          <p:cNvSpPr/>
          <p:nvPr/>
        </p:nvSpPr>
        <p:spPr>
          <a:xfrm>
            <a:off x="3514725" y="1578173"/>
            <a:ext cx="2114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Escalade temporelle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14725" y="2225873"/>
            <a:ext cx="2114550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ticket n’est pas pris dans le TTO ou risque de dépasser le TTR. Une règle ou un superviseur déclenche la réaffectation et la notification.</a:t>
            </a:r>
            <a:endParaRPr lang="en-US" sz="1104" dirty="0"/>
          </a:p>
        </p:txBody>
      </p:sp>
      <p:sp>
        <p:nvSpPr>
          <p:cNvPr id="11" name="Text 9"/>
          <p:cNvSpPr/>
          <p:nvPr/>
        </p:nvSpPr>
        <p:spPr>
          <a:xfrm>
            <a:off x="6334125" y="1578173"/>
            <a:ext cx="2114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Escalade éditeur / N3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34125" y="2225873"/>
            <a:ext cx="2114550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diagnostic montre un bug, une limite produit, un besoin d’expertise architecture ou un correctif nécessitant une action hors exploitation courante.</a:t>
            </a:r>
            <a:endParaRPr lang="en-US" sz="1104" dirty="0"/>
          </a:p>
        </p:txBody>
      </p:sp>
      <p:sp>
        <p:nvSpPr>
          <p:cNvPr id="13" name="Text 11"/>
          <p:cNvSpPr/>
          <p:nvPr/>
        </p:nvSpPr>
        <p:spPr>
          <a:xfrm>
            <a:off x="695325" y="4149626"/>
            <a:ext cx="7753350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N1 doit toujours documenter ses tests, les symptômes et les actions déjà réalisées avant escalade, afin d’éviter les retours inutiles et de réduire le temps de résolution global.</a:t>
            </a:r>
            <a:endParaRPr lang="en-US" sz="110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65374"/>
            <a:ext cx="4000500" cy="2368302"/>
          </a:xfrm>
          <a:prstGeom prst="roundRect">
            <a:avLst>
              <a:gd name="adj" fmla="val 8494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565374"/>
            <a:ext cx="4000500" cy="2368302"/>
          </a:xfrm>
          <a:prstGeom prst="roundRect">
            <a:avLst>
              <a:gd name="adj" fmla="val 8494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574774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8. KPI à présenter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95325" y="1803499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Pilotage opérationnel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5325" y="2222599"/>
            <a:ext cx="3524250" cy="1472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Volume de tickets créés par période.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Temps moyen d’assignation.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Temps moyen de résolution.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Taux de respect du SLA.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Répartition par catégorie, priorité et groupe.</a:t>
            </a:r>
            <a:endParaRPr lang="en-US" sz="1104" dirty="0"/>
          </a:p>
        </p:txBody>
      </p:sp>
      <p:sp>
        <p:nvSpPr>
          <p:cNvPr id="7" name="Text 5"/>
          <p:cNvSpPr/>
          <p:nvPr/>
        </p:nvSpPr>
        <p:spPr>
          <a:xfrm>
            <a:off x="4924425" y="1803499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Qualité de service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24425" y="2222599"/>
            <a:ext cx="3524250" cy="1472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Taux de résolution au premier niveau.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Taux d’escalade N1 vers N2/N3.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Tickets en attente et raisons d’attente.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Backlog en fin de période.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Taux de satisfaction utilisateur.</a:t>
            </a:r>
            <a:endParaRPr lang="en-US" sz="1104" dirty="0"/>
          </a:p>
        </p:txBody>
      </p:sp>
      <p:sp>
        <p:nvSpPr>
          <p:cNvPr id="9" name="Text 7"/>
          <p:cNvSpPr/>
          <p:nvPr/>
        </p:nvSpPr>
        <p:spPr>
          <a:xfrm>
            <a:off x="457200" y="4162276"/>
            <a:ext cx="8229600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Ces KPI servent à démontrer si l’organisation, les catégories, les affectations et les SLA sont correctement calibrés ou s’il faut revoir les files, les ressources ou le paramétrage.</a:t>
            </a:r>
            <a:endParaRPr lang="en-US" sz="110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16745"/>
            <a:ext cx="1914525" cy="1186160"/>
          </a:xfrm>
          <a:prstGeom prst="roundRect">
            <a:avLst>
              <a:gd name="adj" fmla="val 16959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62225" y="1816745"/>
            <a:ext cx="1914525" cy="1186160"/>
          </a:xfrm>
          <a:prstGeom prst="roundRect">
            <a:avLst>
              <a:gd name="adj" fmla="val 16959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0" y="1816745"/>
            <a:ext cx="1914525" cy="1186160"/>
          </a:xfrm>
          <a:prstGeom prst="roundRect">
            <a:avLst>
              <a:gd name="adj" fmla="val 16959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72275" y="1816745"/>
            <a:ext cx="1914525" cy="1186160"/>
          </a:xfrm>
          <a:prstGeom prst="roundRect">
            <a:avLst>
              <a:gd name="adj" fmla="val 16959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3231505"/>
            <a:ext cx="8229600" cy="1085701"/>
          </a:xfrm>
          <a:prstGeom prst="roundRect">
            <a:avLst>
              <a:gd name="adj" fmla="val 18528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826145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9. Exemple de tableau de pilotage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2080" y="2016770"/>
            <a:ext cx="15447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94%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57225" y="2473970"/>
            <a:ext cx="1514475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Tickets assignés dans le TTO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2747105" y="2016770"/>
            <a:ext cx="15447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81%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762250" y="2473970"/>
            <a:ext cx="1514475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Tickets résolus dans le TTR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4852130" y="2016770"/>
            <a:ext cx="15447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68%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867275" y="2473970"/>
            <a:ext cx="1514475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Résolution au premier contact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957155" y="2016770"/>
            <a:ext cx="15447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972300" y="2473970"/>
            <a:ext cx="1514475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Tickets escaladés vers N2/N3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95325" y="3469630"/>
            <a:ext cx="7753350" cy="60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1"/>
              </a:lnSpc>
              <a:buNone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 bon tableau de bord doit permettre d’identifier rapidement : les catégories les plus consommatrices, les groupes saturés, les priorités qui dépassent, et les incidents récurrents à transformer en problèmes ou en articles de base de connaissances.</a:t>
            </a:r>
            <a:endParaRPr lang="en-US" sz="110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6524"/>
            <a:ext cx="4000500" cy="3180904"/>
          </a:xfrm>
          <a:prstGeom prst="roundRect">
            <a:avLst>
              <a:gd name="adj" fmla="val 6324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476524"/>
            <a:ext cx="4000500" cy="3180904"/>
          </a:xfrm>
          <a:prstGeom prst="roundRect">
            <a:avLst>
              <a:gd name="adj" fmla="val 6324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85924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10. Ordre de mise en place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95325" y="1714649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Depuis zéro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5325" y="2133749"/>
            <a:ext cx="3524250" cy="167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Définir le périmètre du support et les niveaux N1/N2/N3.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Construire les catégories et sous-catégories.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Créer les groupes et les règles d’assignation.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Définir la matrice de priorité puis les SLA.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 Activer notifications, escalades et rapports KPI.</a:t>
            </a:r>
            <a:endParaRPr lang="en-US" sz="1104" dirty="0"/>
          </a:p>
        </p:txBody>
      </p:sp>
      <p:sp>
        <p:nvSpPr>
          <p:cNvPr id="7" name="Text 5"/>
          <p:cNvSpPr/>
          <p:nvPr/>
        </p:nvSpPr>
        <p:spPr>
          <a:xfrm>
            <a:off x="4924425" y="1714649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Depuis un existant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24425" y="2133749"/>
            <a:ext cx="3524250" cy="228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Auditer l’arborescence de catégories et les groupes existants.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Mesurer les volumes, les SLA et les écarts actuels.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Corriger les catégories floues et les doubles affectations.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Normaliser la priorisation et les temps cibles.</a:t>
            </a:r>
            <a:endParaRPr lang="en-US" sz="1104" dirty="0"/>
          </a:p>
          <a:p>
            <a:pPr marL="342900" indent="-342900">
              <a:lnSpc>
                <a:spcPts val="1601"/>
              </a:lnSpc>
              <a:buSzPct val="100000"/>
              <a:buChar char="•"/>
            </a:pPr>
            <a:r>
              <a:rPr lang="en-US" sz="1104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 Ajuster les KPI et industrialiser la base de connaissances.</a:t>
            </a:r>
            <a:endParaRPr lang="en-US" sz="110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80147" y="3995291"/>
            <a:ext cx="2983557" cy="265658"/>
          </a:xfrm>
          <a:prstGeom prst="roundRect">
            <a:avLst>
              <a:gd name="adj" fmla="val 34385774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ctr" indent="0" marL="0">
              <a:buNone/>
            </a:pPr>
            <a:r>
              <a:rPr lang="en-US" sz="912" dirty="0">
                <a:solidFill>
                  <a:srgbClr val="CFE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N1 / N2 / N3 • Catégories • Groupes • SLA • KPI</a:t>
            </a:r>
            <a:endParaRPr lang="en-US" sz="912" dirty="0"/>
          </a:p>
        </p:txBody>
      </p:sp>
      <p:sp>
        <p:nvSpPr>
          <p:cNvPr id="3" name="Text 1"/>
          <p:cNvSpPr/>
          <p:nvPr/>
        </p:nvSpPr>
        <p:spPr>
          <a:xfrm>
            <a:off x="374904" y="882551"/>
            <a:ext cx="8394192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0"/>
              </a:lnSpc>
              <a:buNone/>
            </a:pPr>
            <a:r>
              <a:rPr lang="en-US" sz="7350" dirty="0">
                <a:solidFill>
                  <a:srgbClr val="EEF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🛠️</a:t>
            </a:r>
            <a:endParaRPr lang="en-US" sz="7350" dirty="0"/>
          </a:p>
        </p:txBody>
      </p:sp>
      <p:sp>
        <p:nvSpPr>
          <p:cNvPr id="4" name="Text 2"/>
          <p:cNvSpPr/>
          <p:nvPr/>
        </p:nvSpPr>
        <p:spPr>
          <a:xfrm>
            <a:off x="374904" y="1968401"/>
            <a:ext cx="8394192" cy="107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60"/>
              </a:lnSpc>
              <a:buNone/>
            </a:pPr>
            <a:r>
              <a:rPr lang="en-US" sz="5640" dirty="0">
                <a:solidFill>
                  <a:srgbClr val="EEF2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Une organisation support efficace</a:t>
            </a:r>
            <a:endParaRPr lang="en-US" sz="5640" dirty="0"/>
          </a:p>
        </p:txBody>
      </p:sp>
      <p:sp>
        <p:nvSpPr>
          <p:cNvPr id="5" name="Text 3"/>
          <p:cNvSpPr/>
          <p:nvPr/>
        </p:nvSpPr>
        <p:spPr>
          <a:xfrm>
            <a:off x="476250" y="3195191"/>
            <a:ext cx="819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repose sur des catégories claires, une assignation fiable, des SLA adaptés, des KPI exploitables et un paramétrage cohérent de l’outil ITSM.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2026-03-31T21:28:49Z</dcterms:created>
  <dcterms:modified xsi:type="dcterms:W3CDTF">2026-03-31T21:28:49Z</dcterms:modified>
</cp:coreProperties>
</file>